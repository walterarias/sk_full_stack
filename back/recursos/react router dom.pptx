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9" r:id="rId3"/>
    <p:sldId id="258" r:id="rId4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Estilo medio 2 - Énfasis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5940675A-B579-460E-94D1-54222C63F5DA}" styleName="Sin estilo, cuadrícula de la tab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86" d="100"/>
          <a:sy n="86" d="100"/>
        </p:scale>
        <p:origin x="56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54740DA-7DB9-FD37-B610-40B45AB235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6B7595-A791-69FE-9B73-F4FEF2B1503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14008DA-D1A1-76E7-2473-CAEACDD3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A134-508A-43AF-8DC0-C114843165B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FF26079-317D-0E40-3648-AFFBC7840A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A42B49D-9906-85C9-9810-E2F086E57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B1C8-798F-44FD-9C35-0A4A1DBB42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891032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6F761-9E62-9D3C-B205-1205B28DFC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E89E92-2397-5B52-709B-362941BA7D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0B25142-A60C-7186-98FA-E7626B220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A134-508A-43AF-8DC0-C114843165B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C14FE4F-3079-29E0-AA1A-0737BCEC16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FF0DD2A-E8BF-4652-F6DB-76DAF06FA7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B1C8-798F-44FD-9C35-0A4A1DBB42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48149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8BC051-14E2-A349-C2BC-CCA43149E5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FF20054-BDC8-8F73-4F8C-FF40886588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3B8E4E4-4081-BE13-E9B1-F3C7E05E1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A134-508A-43AF-8DC0-C114843165B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A5E7814-69E7-B9F3-A55A-E6C9B56238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D82676B-FB8B-EC06-ED1C-3FC9D05A1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B1C8-798F-44FD-9C35-0A4A1DBB42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7247535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7EC3D5-73C4-A642-15BC-2E34496CB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57EBB42-A2DD-703A-99C9-5A893B075D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E354D96-3DA6-F07A-8E95-21118EF5FE8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A9B6246-35C5-BCFD-AEF9-1A6360FA7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A134-508A-43AF-8DC0-C114843165B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2C0DF1B-9342-6A4D-082B-75F8625E47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E0F5AF92-FA78-7DC5-3BA3-23E952D94C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B1C8-798F-44FD-9C35-0A4A1DBB42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68357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1AF41A0-076A-69D4-2BA6-12B563436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DD118E3-653E-0A32-82AA-AF4EDCE996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6563F92E-2EF3-7076-9467-6E33504663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2DED115-456C-7BFE-99A3-F0645905AE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A289E2C-C247-DAE6-C6C4-7E6CBEA901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E38D2C7C-6675-AAA4-B68C-7D24ABE921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A134-508A-43AF-8DC0-C114843165B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E8F556FA-2A9B-9FE6-8B4E-BA43695E90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0D3F1BA-B1D2-9250-5E3E-8D3F9F8C8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B1C8-798F-44FD-9C35-0A4A1DBB42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00511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E70DBC3-4CF8-7C20-1347-D135ADED1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78620C74-8BDF-2674-C253-94EB1D619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A134-508A-43AF-8DC0-C114843165B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D340DB7-D142-30BE-14FC-FB768D7F54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BDBDA1C5-C29F-60A2-7A22-36D658A579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B1C8-798F-44FD-9C35-0A4A1DBB42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263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F268ED1D-5E5C-8C42-00B4-96A355249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A134-508A-43AF-8DC0-C114843165B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0D0F839A-DB0C-D74E-FD03-3D3D15EF39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B54AE57-4D3F-C65F-0492-E98193002E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B1C8-798F-44FD-9C35-0A4A1DBB42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14315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207598-4A8E-1D18-E574-4C0C5BD687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3F52AC7-CAA5-C5C9-1682-02A02E0F16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48599F5-7CF2-B0D6-2FDA-FAC6A6B3AB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593ECC3-D41F-4909-76B1-FAC4D5181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A134-508A-43AF-8DC0-C114843165B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1AF6C45-F677-0AA9-995D-21D1918ABC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848793-206D-0DBA-CA9E-85D1FFD1C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B1C8-798F-44FD-9C35-0A4A1DBB42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322035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E185689-5394-F83C-713C-6C76FD3295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A8DDD92-3C5F-FD28-6E30-72F2A80683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2A6DD428-D1C8-E239-E752-ED6ED1C7CDB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F2CD3F5-E910-3A61-4DAD-E12BD29D14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A134-508A-43AF-8DC0-C114843165B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9FD6D19-2365-0930-F22E-DC7E817A0D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CF904EB7-40EA-2148-3B23-599F2A344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B1C8-798F-44FD-9C35-0A4A1DBB42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106380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38D3CA0-52D1-336E-7C6A-CADFBB8B8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AF591AD9-FC0A-5DE5-7738-D762F8D5FB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4383754-D4A4-1492-A134-1304B13C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A134-508A-43AF-8DC0-C114843165B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DC47B6F-B297-0346-770E-DFCF329930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A18EC33-465C-A346-0F6A-F97F9F3A2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B1C8-798F-44FD-9C35-0A4A1DBB42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562751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44BA467F-6C6C-A7AF-6527-A4C1E58B49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7BC35E2C-F59A-276B-007D-A86953E3E6F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9E957A9-D5E8-6119-E970-30AD428782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1A134-508A-43AF-8DC0-C114843165B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81727F6-8A7F-7B41-69AD-9B0E25BFC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889591F-F0AE-59F6-EB66-0382C762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A7B1C8-798F-44FD-9C35-0A4A1DBB42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257536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BC11250D-D03D-2049-2CE4-774D83627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56FF808F-47A9-DB69-FF36-EC30261ED4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5BEED0B-E955-23CF-8053-9607665F8C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1A134-508A-43AF-8DC0-C114843165B5}" type="datetimeFigureOut">
              <a:rPr lang="es-CO" smtClean="0"/>
              <a:t>27/05/2026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8156101-99FA-146E-CA74-486958A5FA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27E04DC-DC5C-E8B3-265D-F23AEE56FA9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8A7B1C8-798F-44FD-9C35-0A4A1DBB42B0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7768531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reactrouter.com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EA5D481-84E1-128B-6BB2-17908F1EC4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CO" dirty="0"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E3CD37A3-FE95-5EDB-13DA-B9DCE03F3B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70" y="691121"/>
            <a:ext cx="12069859" cy="42201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5068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F49FFF-F915-6301-2E6C-C19D93572F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O" dirty="0"/>
              <a:t>¿Porqué se requiere el </a:t>
            </a:r>
            <a:r>
              <a:rPr lang="es-CO" dirty="0" err="1"/>
              <a:t>react</a:t>
            </a:r>
            <a:r>
              <a:rPr lang="es-CO" dirty="0"/>
              <a:t>-</a:t>
            </a:r>
            <a:r>
              <a:rPr lang="es-CO" dirty="0" err="1"/>
              <a:t>router</a:t>
            </a:r>
            <a:r>
              <a:rPr lang="es-CO" dirty="0"/>
              <a:t>-dom?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FCCA2ED-BC48-3A7C-F846-3C39681E3C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El manejo de rutas en </a:t>
            </a:r>
            <a:r>
              <a:rPr lang="es-ES" dirty="0" err="1"/>
              <a:t>React</a:t>
            </a:r>
            <a:r>
              <a:rPr lang="es-ES" dirty="0"/>
              <a:t> es fundamental, y </a:t>
            </a:r>
            <a:r>
              <a:rPr lang="es-ES" b="1" i="1" dirty="0" err="1"/>
              <a:t>react</a:t>
            </a:r>
            <a:r>
              <a:rPr lang="es-ES" b="1" i="1" dirty="0"/>
              <a:t>-</a:t>
            </a:r>
            <a:r>
              <a:rPr lang="es-ES" b="1" i="1" dirty="0" err="1"/>
              <a:t>router</a:t>
            </a:r>
            <a:r>
              <a:rPr lang="es-ES" b="1" i="1" dirty="0"/>
              <a:t>-dom </a:t>
            </a:r>
            <a:r>
              <a:rPr lang="es-ES" dirty="0"/>
              <a:t>es la librería estándar para lograrlo. </a:t>
            </a:r>
          </a:p>
          <a:p>
            <a:r>
              <a:rPr lang="es-ES" b="1" i="1" dirty="0" err="1"/>
              <a:t>react</a:t>
            </a:r>
            <a:r>
              <a:rPr lang="es-ES" b="1" i="1" dirty="0"/>
              <a:t>-</a:t>
            </a:r>
            <a:r>
              <a:rPr lang="es-ES" b="1" i="1" dirty="0" err="1"/>
              <a:t>router</a:t>
            </a:r>
            <a:r>
              <a:rPr lang="es-ES" b="1" i="1" dirty="0"/>
              <a:t>-dom </a:t>
            </a:r>
            <a:r>
              <a:rPr lang="es-ES" dirty="0"/>
              <a:t>le permite cambiar lo que se ve en la pantalla según la URL, sin necesidad de recargar la página completa.</a:t>
            </a:r>
          </a:p>
          <a:p>
            <a:r>
              <a:rPr lang="es-ES" dirty="0"/>
              <a:t>Lo anterior permite actualizar componentes individuales sin recargar las paginas, mantener S.P.A. (Single Page </a:t>
            </a:r>
            <a:r>
              <a:rPr lang="es-ES" dirty="0" err="1"/>
              <a:t>Applicattion</a:t>
            </a:r>
            <a:r>
              <a:rPr lang="es-ES" dirty="0"/>
              <a:t>) y pasar parámetros en las rutas.</a:t>
            </a:r>
          </a:p>
          <a:p>
            <a:r>
              <a:rPr lang="es-ES" dirty="0"/>
              <a:t>Si construyes una app usando solo estados de </a:t>
            </a:r>
            <a:r>
              <a:rPr lang="es-ES" dirty="0" err="1"/>
              <a:t>React</a:t>
            </a:r>
            <a:r>
              <a:rPr lang="es-ES" dirty="0"/>
              <a:t> (`</a:t>
            </a:r>
            <a:r>
              <a:rPr lang="es-ES" dirty="0" err="1"/>
              <a:t>useState</a:t>
            </a:r>
            <a:r>
              <a:rPr lang="es-ES" dirty="0"/>
              <a:t>`) para mostrar u ocultar pantallas, la URL nunca cambiaría (siempre sería `misitio.com`). Esto rompe la experiencia web básica: </a:t>
            </a:r>
            <a:r>
              <a:rPr lang="es-CO" dirty="0" err="1"/>
              <a:t>React</a:t>
            </a:r>
            <a:r>
              <a:rPr lang="es-CO" dirty="0"/>
              <a:t> </a:t>
            </a:r>
            <a:r>
              <a:rPr lang="es-CO" dirty="0" err="1"/>
              <a:t>Router</a:t>
            </a:r>
            <a:r>
              <a:rPr lang="es-CO" dirty="0"/>
              <a:t> mapea tus componentes directamente a rutas reales (`/perfil`, `/tienda`, `/ajustes`).</a:t>
            </a:r>
            <a:endParaRPr lang="es-ES" dirty="0"/>
          </a:p>
          <a:p>
            <a:r>
              <a:rPr lang="es-ES" dirty="0"/>
              <a:t> </a:t>
            </a:r>
            <a:r>
              <a:rPr lang="es-CO" dirty="0">
                <a:hlinkClick r:id="rId2"/>
              </a:rPr>
              <a:t>https://reactrouter.com/</a:t>
            </a:r>
            <a:endParaRPr lang="es-CO" dirty="0"/>
          </a:p>
          <a:p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19756425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2DD9E8A-9089-208C-C00F-332E980B108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10832598"/>
              </p:ext>
            </p:extLst>
          </p:nvPr>
        </p:nvGraphicFramePr>
        <p:xfrm>
          <a:off x="342900" y="111064"/>
          <a:ext cx="11557000" cy="6106856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889250">
                  <a:extLst>
                    <a:ext uri="{9D8B030D-6E8A-4147-A177-3AD203B41FA5}">
                      <a16:colId xmlns:a16="http://schemas.microsoft.com/office/drawing/2014/main" val="363666822"/>
                    </a:ext>
                  </a:extLst>
                </a:gridCol>
                <a:gridCol w="2889250">
                  <a:extLst>
                    <a:ext uri="{9D8B030D-6E8A-4147-A177-3AD203B41FA5}">
                      <a16:colId xmlns:a16="http://schemas.microsoft.com/office/drawing/2014/main" val="764485647"/>
                    </a:ext>
                  </a:extLst>
                </a:gridCol>
                <a:gridCol w="2889250">
                  <a:extLst>
                    <a:ext uri="{9D8B030D-6E8A-4147-A177-3AD203B41FA5}">
                      <a16:colId xmlns:a16="http://schemas.microsoft.com/office/drawing/2014/main" val="3151529069"/>
                    </a:ext>
                  </a:extLst>
                </a:gridCol>
                <a:gridCol w="2889250">
                  <a:extLst>
                    <a:ext uri="{9D8B030D-6E8A-4147-A177-3AD203B41FA5}">
                      <a16:colId xmlns:a16="http://schemas.microsoft.com/office/drawing/2014/main" val="566258992"/>
                    </a:ext>
                  </a:extLst>
                </a:gridCol>
              </a:tblGrid>
              <a:tr h="286577"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CO" sz="1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Componente</a:t>
                      </a:r>
                      <a:endParaRPr lang="es-CO" sz="1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CO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Categoría / Función</a:t>
                      </a:r>
                      <a:endParaRPr lang="es-CO" sz="1400" b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ES" sz="1400" b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¿Para qué sirve? (En pocas palabras)</a:t>
                      </a:r>
                      <a:endParaRPr lang="es-ES" sz="1400" b="1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algn="ctr" rtl="0">
                        <a:buNone/>
                      </a:pPr>
                      <a:r>
                        <a:rPr lang="es-CO" sz="1400" b="1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Propiedad / Atributo clave</a:t>
                      </a:r>
                      <a:endParaRPr lang="es-CO" sz="1400" b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extLst>
                  <a:ext uri="{0D108BD9-81ED-4DB2-BD59-A6C34878D82A}">
                    <a16:rowId xmlns:a16="http://schemas.microsoft.com/office/drawing/2014/main" val="3573182819"/>
                  </a:ext>
                </a:extLst>
              </a:tr>
              <a:tr h="75552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s-CO" sz="1400" b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masis MT Pro Black" panose="020F0502020204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BrowserRouter</a:t>
                      </a:r>
                      <a:endParaRPr lang="es-CO" sz="1400" b="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latin typeface="Amasis MT Pro Black" panose="020F0502020204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400" b="1" dirty="0">
                          <a:solidFill>
                            <a:srgbClr val="1F1F1F"/>
                          </a:solidFill>
                          <a:effectLst/>
                        </a:rPr>
                        <a:t>Envoltorio (Contexto)</a:t>
                      </a:r>
                      <a:endParaRPr lang="es-CO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>
                          <a:solidFill>
                            <a:srgbClr val="1F1F1F"/>
                          </a:solidFill>
                          <a:effectLst/>
                        </a:rPr>
                        <a:t>Es el cerebro de las rutas. Conecta tu aplicación con la URL del navegador y activa el historial de navegación sin recargar la página.</a:t>
                      </a:r>
                      <a:endParaRPr lang="es-E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 dirty="0">
                          <a:solidFill>
                            <a:srgbClr val="1F1F1F"/>
                          </a:solidFill>
                          <a:effectLst/>
                        </a:rPr>
                        <a:t>No requiere (envuelve a la app)</a:t>
                      </a:r>
                      <a:endParaRPr lang="es-E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extLst>
                  <a:ext uri="{0D108BD9-81ED-4DB2-BD59-A6C34878D82A}">
                    <a16:rowId xmlns:a16="http://schemas.microsoft.com/office/drawing/2014/main" val="1282708001"/>
                  </a:ext>
                </a:extLst>
              </a:tr>
              <a:tr h="75552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s-CO" sz="1400" b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masis MT Pro Black" panose="020F0502020204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Routes</a:t>
                      </a:r>
                      <a:endParaRPr lang="es-CO" sz="1400" b="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latin typeface="Amasis MT Pro Black" panose="020F0502020204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400" b="1" dirty="0">
                          <a:solidFill>
                            <a:srgbClr val="1F1F1F"/>
                          </a:solidFill>
                          <a:effectLst/>
                        </a:rPr>
                        <a:t>Contenedor</a:t>
                      </a:r>
                      <a:endParaRPr lang="es-CO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>
                          <a:solidFill>
                            <a:srgbClr val="1F1F1F"/>
                          </a:solidFill>
                          <a:effectLst/>
                        </a:rPr>
                        <a:t>Actúa como un selector. Examina la URL actual y renderiza </a:t>
                      </a:r>
                      <a:r>
                        <a:rPr lang="es-ES" sz="1400" b="1">
                          <a:solidFill>
                            <a:srgbClr val="1F1F1F"/>
                          </a:solidFill>
                          <a:effectLst/>
                        </a:rPr>
                        <a:t>únicamente</a:t>
                      </a:r>
                      <a:r>
                        <a:rPr lang="es-ES" sz="1400">
                          <a:solidFill>
                            <a:srgbClr val="1F1F1F"/>
                          </a:solidFill>
                          <a:effectLst/>
                        </a:rPr>
                        <a:t> la primera ruta hija (</a:t>
                      </a:r>
                      <a:r>
                        <a:rPr lang="es-ES" sz="1400" b="0">
                          <a:solidFill>
                            <a:srgbClr val="1F1F1F"/>
                          </a:solidFill>
                          <a:effectLst/>
                        </a:rPr>
                        <a:t>Route</a:t>
                      </a:r>
                      <a:r>
                        <a:rPr lang="es-ES" sz="1400">
                          <a:solidFill>
                            <a:srgbClr val="1F1F1F"/>
                          </a:solidFill>
                          <a:effectLst/>
                        </a:rPr>
                        <a:t>) que coincida con el camino.</a:t>
                      </a:r>
                      <a:endParaRPr lang="es-E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>
                          <a:solidFill>
                            <a:srgbClr val="1F1F1F"/>
                          </a:solidFill>
                          <a:effectLst/>
                        </a:rPr>
                        <a:t>Envuelve a los componentes </a:t>
                      </a:r>
                      <a:r>
                        <a:rPr lang="es-ES" sz="1400" b="0">
                          <a:solidFill>
                            <a:srgbClr val="1F1F1F"/>
                          </a:solidFill>
                          <a:effectLst/>
                        </a:rPr>
                        <a:t>&lt;Route /&gt;</a:t>
                      </a:r>
                      <a:endParaRPr lang="es-E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extLst>
                  <a:ext uri="{0D108BD9-81ED-4DB2-BD59-A6C34878D82A}">
                    <a16:rowId xmlns:a16="http://schemas.microsoft.com/office/drawing/2014/main" val="2840378419"/>
                  </a:ext>
                </a:extLst>
              </a:tr>
              <a:tr h="638284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s-CO" sz="14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masis MT Pro Black" panose="020F0502020204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Route</a:t>
                      </a:r>
                      <a:endParaRPr lang="es-CO" sz="1400" b="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latin typeface="Amasis MT Pro Black" panose="020F0502020204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400" b="1" dirty="0">
                          <a:solidFill>
                            <a:srgbClr val="1F1F1F"/>
                          </a:solidFill>
                          <a:effectLst/>
                        </a:rPr>
                        <a:t>Definidor de Ruta</a:t>
                      </a:r>
                      <a:endParaRPr lang="es-CO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 dirty="0">
                          <a:solidFill>
                            <a:srgbClr val="1F1F1F"/>
                          </a:solidFill>
                          <a:effectLst/>
                        </a:rPr>
                        <a:t>Mapea un camino específico con el componente que debe mostrarse en pantalla cuando la URL coincide.</a:t>
                      </a:r>
                      <a:endParaRPr lang="es-E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400" b="0" dirty="0" err="1">
                          <a:solidFill>
                            <a:srgbClr val="1F1F1F"/>
                          </a:solidFill>
                          <a:effectLst/>
                        </a:rPr>
                        <a:t>path</a:t>
                      </a:r>
                      <a:r>
                        <a:rPr lang="es-CO" sz="1400" b="0" dirty="0">
                          <a:solidFill>
                            <a:srgbClr val="1F1F1F"/>
                          </a:solidFill>
                          <a:effectLst/>
                        </a:rPr>
                        <a:t>="/ruta"</a:t>
                      </a:r>
                      <a:endParaRPr lang="es-CO" sz="14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br>
                        <a:rPr lang="es-CO" sz="1400" dirty="0">
                          <a:solidFill>
                            <a:srgbClr val="1F1F1F"/>
                          </a:solidFill>
                          <a:effectLst/>
                        </a:rPr>
                      </a:br>
                      <a:endParaRPr lang="es-CO" sz="1400" dirty="0">
                        <a:solidFill>
                          <a:srgbClr val="1F1F1F"/>
                        </a:solidFill>
                        <a:effectLst/>
                      </a:endParaRPr>
                    </a:p>
                    <a:p>
                      <a:pPr rtl="0">
                        <a:buNone/>
                      </a:pPr>
                      <a:r>
                        <a:rPr lang="es-CO" sz="1400" b="0" dirty="0" err="1">
                          <a:solidFill>
                            <a:srgbClr val="1F1F1F"/>
                          </a:solidFill>
                          <a:effectLst/>
                        </a:rPr>
                        <a:t>element</a:t>
                      </a:r>
                      <a:r>
                        <a:rPr lang="es-CO" sz="1400" b="0" dirty="0">
                          <a:solidFill>
                            <a:srgbClr val="1F1F1F"/>
                          </a:solidFill>
                          <a:effectLst/>
                        </a:rPr>
                        <a:t>={&lt;Componente /&gt;}</a:t>
                      </a:r>
                      <a:endParaRPr lang="es-CO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extLst>
                  <a:ext uri="{0D108BD9-81ED-4DB2-BD59-A6C34878D82A}">
                    <a16:rowId xmlns:a16="http://schemas.microsoft.com/office/drawing/2014/main" val="1697800980"/>
                  </a:ext>
                </a:extLst>
              </a:tr>
              <a:tr h="638284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s-CO" sz="14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masis MT Pro Black" panose="020F0502020204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Link</a:t>
                      </a:r>
                      <a:endParaRPr lang="es-CO" sz="1400" b="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latin typeface="Amasis MT Pro Black" panose="020F0502020204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400" b="1" dirty="0">
                          <a:solidFill>
                            <a:srgbClr val="1F1F1F"/>
                          </a:solidFill>
                          <a:effectLst/>
                        </a:rPr>
                        <a:t>Navegación</a:t>
                      </a:r>
                      <a:endParaRPr lang="es-CO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>
                          <a:solidFill>
                            <a:srgbClr val="1F1F1F"/>
                          </a:solidFill>
                          <a:effectLst/>
                        </a:rPr>
                        <a:t>Reemplaza a la etiqueta </a:t>
                      </a:r>
                      <a:r>
                        <a:rPr lang="es-ES" sz="1400" b="0">
                          <a:solidFill>
                            <a:srgbClr val="1F1F1F"/>
                          </a:solidFill>
                          <a:effectLst/>
                        </a:rPr>
                        <a:t>&lt;a&gt;</a:t>
                      </a:r>
                      <a:r>
                        <a:rPr lang="es-ES" sz="1400">
                          <a:solidFill>
                            <a:srgbClr val="1F1F1F"/>
                          </a:solidFill>
                          <a:effectLst/>
                        </a:rPr>
                        <a:t> de HTML. Permite cambiar de ruta de forma interna y suave sin refrescar el navegador.</a:t>
                      </a:r>
                      <a:endParaRPr lang="es-E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400" b="0" dirty="0" err="1">
                          <a:solidFill>
                            <a:srgbClr val="1F1F1F"/>
                          </a:solidFill>
                          <a:effectLst/>
                        </a:rPr>
                        <a:t>to</a:t>
                      </a:r>
                      <a:r>
                        <a:rPr lang="es-CO" sz="1400" b="0" dirty="0">
                          <a:solidFill>
                            <a:srgbClr val="1F1F1F"/>
                          </a:solidFill>
                          <a:effectLst/>
                        </a:rPr>
                        <a:t>="/destino"</a:t>
                      </a:r>
                      <a:endParaRPr lang="es-CO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extLst>
                  <a:ext uri="{0D108BD9-81ED-4DB2-BD59-A6C34878D82A}">
                    <a16:rowId xmlns:a16="http://schemas.microsoft.com/office/drawing/2014/main" val="1859645138"/>
                  </a:ext>
                </a:extLst>
              </a:tr>
              <a:tr h="75552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s-CO" sz="1400" b="0" dirty="0" err="1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masis MT Pro Black" panose="020F0502020204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NavLink</a:t>
                      </a:r>
                      <a:endParaRPr lang="es-CO" sz="1400" b="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latin typeface="Amasis MT Pro Black" panose="020F0502020204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400" b="1">
                          <a:solidFill>
                            <a:srgbClr val="1F1F1F"/>
                          </a:solidFill>
                          <a:effectLst/>
                        </a:rPr>
                        <a:t>Navegación Avanzada</a:t>
                      </a:r>
                      <a:endParaRPr lang="es-CO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>
                          <a:solidFill>
                            <a:srgbClr val="1F1F1F"/>
                          </a:solidFill>
                          <a:effectLst/>
                        </a:rPr>
                        <a:t>Funciona igual que </a:t>
                      </a:r>
                      <a:r>
                        <a:rPr lang="es-ES" sz="1400" b="0">
                          <a:solidFill>
                            <a:srgbClr val="1F1F1F"/>
                          </a:solidFill>
                          <a:effectLst/>
                        </a:rPr>
                        <a:t>Link</a:t>
                      </a:r>
                      <a:r>
                        <a:rPr lang="es-ES" sz="1400">
                          <a:solidFill>
                            <a:srgbClr val="1F1F1F"/>
                          </a:solidFill>
                          <a:effectLst/>
                        </a:rPr>
                        <a:t>, pero detecta de forma automática si la ruta está activa para añadirle una clase CSS (ideal para menús de navegación).</a:t>
                      </a:r>
                      <a:endParaRPr lang="es-E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400" b="0" dirty="0" err="1">
                          <a:solidFill>
                            <a:srgbClr val="1F1F1F"/>
                          </a:solidFill>
                          <a:effectLst/>
                        </a:rPr>
                        <a:t>to</a:t>
                      </a:r>
                      <a:r>
                        <a:rPr lang="es-CO" sz="1400" b="0" dirty="0">
                          <a:solidFill>
                            <a:srgbClr val="1F1F1F"/>
                          </a:solidFill>
                          <a:effectLst/>
                        </a:rPr>
                        <a:t>="/destino"</a:t>
                      </a:r>
                      <a:endParaRPr lang="es-CO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extLst>
                  <a:ext uri="{0D108BD9-81ED-4DB2-BD59-A6C34878D82A}">
                    <a16:rowId xmlns:a16="http://schemas.microsoft.com/office/drawing/2014/main" val="4151544626"/>
                  </a:ext>
                </a:extLst>
              </a:tr>
              <a:tr h="755520">
                <a:tc>
                  <a:txBody>
                    <a:bodyPr/>
                    <a:lstStyle/>
                    <a:p>
                      <a:pPr algn="l" rtl="0">
                        <a:buNone/>
                      </a:pPr>
                      <a:r>
                        <a:rPr lang="es-CO" sz="1400" b="0" dirty="0">
                          <a:solidFill>
                            <a:schemeClr val="tx2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Amasis MT Pro Black" panose="020F0502020204030204" pitchFamily="18" charset="0"/>
                          <a:ea typeface="ADLaM Display" panose="02010000000000000000" pitchFamily="2" charset="0"/>
                          <a:cs typeface="ADLaM Display" panose="02010000000000000000" pitchFamily="2" charset="0"/>
                        </a:rPr>
                        <a:t>Outlet</a:t>
                      </a:r>
                      <a:endParaRPr lang="es-CO" sz="1400" b="0" i="1" dirty="0">
                        <a:solidFill>
                          <a:schemeClr val="tx2">
                            <a:lumMod val="75000"/>
                            <a:lumOff val="25000"/>
                          </a:schemeClr>
                        </a:solidFill>
                        <a:effectLst/>
                        <a:latin typeface="Amasis MT Pro Black" panose="020F0502020204030204" pitchFamily="18" charset="0"/>
                        <a:ea typeface="ADLaM Display" panose="02010000000000000000" pitchFamily="2" charset="0"/>
                        <a:cs typeface="ADLaM Display" panose="02010000000000000000" pitchFamily="2" charset="0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CO" sz="1400" b="1">
                          <a:solidFill>
                            <a:srgbClr val="1F1F1F"/>
                          </a:solidFill>
                          <a:effectLst/>
                        </a:rPr>
                        <a:t>Rutas Anidadas</a:t>
                      </a:r>
                      <a:endParaRPr lang="es-CO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>
                          <a:solidFill>
                            <a:srgbClr val="1F1F1F"/>
                          </a:solidFill>
                          <a:effectLst/>
                        </a:rPr>
                        <a:t>Sirve como un "espacio reservado" dentro de un componente padre para renderizar los componentes de las rutas hijas.</a:t>
                      </a:r>
                      <a:endParaRPr lang="es-ES" sz="14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es-ES" sz="1400" dirty="0">
                          <a:solidFill>
                            <a:srgbClr val="1F1F1F"/>
                          </a:solidFill>
                          <a:effectLst/>
                        </a:rPr>
                        <a:t>No requiere (actúa como </a:t>
                      </a:r>
                      <a:r>
                        <a:rPr lang="es-ES" sz="1400" dirty="0" err="1">
                          <a:solidFill>
                            <a:srgbClr val="1F1F1F"/>
                          </a:solidFill>
                          <a:effectLst/>
                        </a:rPr>
                        <a:t>placeholder</a:t>
                      </a:r>
                      <a:r>
                        <a:rPr lang="es-ES" sz="1400" dirty="0">
                          <a:solidFill>
                            <a:srgbClr val="1F1F1F"/>
                          </a:solidFill>
                          <a:effectLst/>
                        </a:rPr>
                        <a:t>)</a:t>
                      </a:r>
                      <a:endParaRPr lang="es-ES" sz="1400" dirty="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37085" marR="37085" marT="24724" marB="24724" anchor="ctr"/>
                </a:tc>
                <a:extLst>
                  <a:ext uri="{0D108BD9-81ED-4DB2-BD59-A6C34878D82A}">
                    <a16:rowId xmlns:a16="http://schemas.microsoft.com/office/drawing/2014/main" val="24723504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514651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303</TotalTime>
  <Words>356</Words>
  <Application>Microsoft Office PowerPoint</Application>
  <PresentationFormat>Panorámica</PresentationFormat>
  <Paragraphs>36</Paragraphs>
  <Slides>3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3</vt:i4>
      </vt:variant>
    </vt:vector>
  </HeadingPairs>
  <TitlesOfParts>
    <vt:vector size="9" baseType="lpstr">
      <vt:lpstr>Amasis MT Pro Black</vt:lpstr>
      <vt:lpstr>Aptos</vt:lpstr>
      <vt:lpstr>Aptos Display</vt:lpstr>
      <vt:lpstr>Arial</vt:lpstr>
      <vt:lpstr>Google Sans Text</vt:lpstr>
      <vt:lpstr>Tema de Office</vt:lpstr>
      <vt:lpstr>Presentación de PowerPoint</vt:lpstr>
      <vt:lpstr>¿Porqué se requiere el react-router-dom?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Walter Arias Aguirre</dc:creator>
  <cp:lastModifiedBy>Walter Arias Aguirre</cp:lastModifiedBy>
  <cp:revision>8</cp:revision>
  <dcterms:created xsi:type="dcterms:W3CDTF">2026-05-27T19:42:09Z</dcterms:created>
  <dcterms:modified xsi:type="dcterms:W3CDTF">2026-05-28T00:49:00Z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fc111285-cafa-4fc9-8a9a-bd902089b24f_Enabled">
    <vt:lpwstr>true</vt:lpwstr>
  </property>
  <property fmtid="{D5CDD505-2E9C-101B-9397-08002B2CF9AE}" pid="3" name="MSIP_Label_fc111285-cafa-4fc9-8a9a-bd902089b24f_SetDate">
    <vt:lpwstr>2026-05-27T19:45:53Z</vt:lpwstr>
  </property>
  <property fmtid="{D5CDD505-2E9C-101B-9397-08002B2CF9AE}" pid="4" name="MSIP_Label_fc111285-cafa-4fc9-8a9a-bd902089b24f_Method">
    <vt:lpwstr>Privileged</vt:lpwstr>
  </property>
  <property fmtid="{D5CDD505-2E9C-101B-9397-08002B2CF9AE}" pid="5" name="MSIP_Label_fc111285-cafa-4fc9-8a9a-bd902089b24f_Name">
    <vt:lpwstr>Public</vt:lpwstr>
  </property>
  <property fmtid="{D5CDD505-2E9C-101B-9397-08002B2CF9AE}" pid="6" name="MSIP_Label_fc111285-cafa-4fc9-8a9a-bd902089b24f_SiteId">
    <vt:lpwstr>cbc2c381-2f2e-4d93-91d1-506c9316ace7</vt:lpwstr>
  </property>
  <property fmtid="{D5CDD505-2E9C-101B-9397-08002B2CF9AE}" pid="7" name="MSIP_Label_fc111285-cafa-4fc9-8a9a-bd902089b24f_ActionId">
    <vt:lpwstr>54102e43-18f5-49c4-8d76-9946c8e69f9d</vt:lpwstr>
  </property>
  <property fmtid="{D5CDD505-2E9C-101B-9397-08002B2CF9AE}" pid="8" name="MSIP_Label_fc111285-cafa-4fc9-8a9a-bd902089b24f_ContentBits">
    <vt:lpwstr>0</vt:lpwstr>
  </property>
  <property fmtid="{D5CDD505-2E9C-101B-9397-08002B2CF9AE}" pid="9" name="MSIP_Label_fc111285-cafa-4fc9-8a9a-bd902089b24f_Tag">
    <vt:lpwstr>10, 0, 1, 1</vt:lpwstr>
  </property>
</Properties>
</file>